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B0F6F-C601-404F-8F28-4E0C7FE3B9AB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E698B-A48A-4170-9A6C-4FA3662263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92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E698B-A48A-4170-9A6C-4FA3662263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59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92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46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21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7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2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35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6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90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87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97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9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270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046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17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3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8566-ED65-4AEA-B63F-95F5CD241639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7ABFE7-BEBA-498C-A5D1-FF97802A9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8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BEAB-2951-0D9E-489B-808D760C2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399" y="1295400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RIT 1410 AI Team 4A</a:t>
            </a:r>
            <a:br>
              <a:rPr lang="en-IN" sz="4800" b="1" dirty="0"/>
            </a:br>
            <a:r>
              <a:rPr lang="en-IN" sz="4800" b="1" dirty="0"/>
              <a:t>Final Dashboard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5FD1B-764C-F8A8-2EA4-82840827D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515" y="4236447"/>
            <a:ext cx="2835564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dirty="0"/>
              <a:t>Team Members:</a:t>
            </a:r>
          </a:p>
          <a:p>
            <a:pPr algn="l"/>
            <a:r>
              <a:rPr lang="en-IN" dirty="0"/>
              <a:t>ALLAM SRIDHAR</a:t>
            </a:r>
          </a:p>
          <a:p>
            <a:pPr algn="l"/>
            <a:r>
              <a:rPr lang="en-IN" dirty="0"/>
              <a:t>QAIS ADENIJI BELLO</a:t>
            </a:r>
          </a:p>
          <a:p>
            <a:pPr algn="l"/>
            <a:r>
              <a:rPr lang="en-IN" dirty="0"/>
              <a:t>RONEE HELEPI</a:t>
            </a:r>
          </a:p>
          <a:p>
            <a:pPr algn="l"/>
            <a:r>
              <a:rPr lang="en-IN" dirty="0"/>
              <a:t>Etc…</a:t>
            </a:r>
          </a:p>
        </p:txBody>
      </p:sp>
    </p:spTree>
    <p:extLst>
      <p:ext uri="{BB962C8B-B14F-4D97-AF65-F5344CB8AC3E}">
        <p14:creationId xmlns:p14="http://schemas.microsoft.com/office/powerpoint/2010/main" val="395019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98C3-9F8B-C9EC-99EF-84D4E21C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Presentation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42ED1-2913-A0D8-9543-5F2439BFE5FC}"/>
              </a:ext>
            </a:extLst>
          </p:cNvPr>
          <p:cNvSpPr txBox="1"/>
          <p:nvPr/>
        </p:nvSpPr>
        <p:spPr>
          <a:xfrm>
            <a:off x="2760231" y="1905000"/>
            <a:ext cx="8577072" cy="275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Preprocessing of the Dataset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EDA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Predictive Modelling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292699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8968-239C-2B50-5233-F07BFA11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F0CCC-4153-7A30-107F-E7696E5CD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Dataset information</a:t>
            </a:r>
          </a:p>
          <a:p>
            <a:pPr>
              <a:lnSpc>
                <a:spcPct val="150000"/>
              </a:lnSpc>
            </a:pPr>
            <a:r>
              <a:rPr lang="en-IN" dirty="0"/>
              <a:t>Handling Missing values</a:t>
            </a:r>
          </a:p>
          <a:p>
            <a:pPr>
              <a:lnSpc>
                <a:spcPct val="150000"/>
              </a:lnSpc>
            </a:pPr>
            <a:r>
              <a:rPr lang="en-IN" dirty="0"/>
              <a:t>Feature Engineering</a:t>
            </a:r>
          </a:p>
          <a:p>
            <a:pPr>
              <a:lnSpc>
                <a:spcPct val="150000"/>
              </a:lnSpc>
            </a:pPr>
            <a:r>
              <a:rPr lang="en-IN" dirty="0"/>
              <a:t>Standardizing formats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8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65E7-03B2-0820-2710-35B41B8A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798" y="118553"/>
            <a:ext cx="10079182" cy="124402"/>
          </a:xfrm>
        </p:spPr>
        <p:txBody>
          <a:bodyPr>
            <a:noAutofit/>
          </a:bodyPr>
          <a:lstStyle/>
          <a:p>
            <a:r>
              <a:rPr lang="en-IN" b="1" dirty="0"/>
              <a:t>EDA (UNIVARIATE)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146915-7613-38D9-9AE0-EEFBBDD99A40}"/>
              </a:ext>
            </a:extLst>
          </p:cNvPr>
          <p:cNvGrpSpPr/>
          <p:nvPr/>
        </p:nvGrpSpPr>
        <p:grpSpPr>
          <a:xfrm>
            <a:off x="593456" y="956025"/>
            <a:ext cx="11357539" cy="5721221"/>
            <a:chOff x="380805" y="668946"/>
            <a:chExt cx="11519050" cy="59319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5365AC-A197-9247-D3FA-5750619FF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807" y="668946"/>
              <a:ext cx="2748192" cy="178934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59096A-DADE-0D43-C2F9-CC7D5654E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805" y="4399707"/>
              <a:ext cx="3214791" cy="219170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F3B6A6-E52C-39D6-B8DA-437601671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2136" y="668946"/>
              <a:ext cx="2691577" cy="178934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0AD5DBE-5971-FD37-890A-491B85E0B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53714" y="668946"/>
              <a:ext cx="3248046" cy="178934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151EB9-D286-EAFF-27DF-CFF5AAE2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0806" y="2458289"/>
              <a:ext cx="3681387" cy="194142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C85D3A-C56D-F756-FF79-563301902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62193" y="2458287"/>
              <a:ext cx="3681388" cy="202814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0675A5-0ED2-66B2-7509-0D460348F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01540" y="2458285"/>
              <a:ext cx="4298315" cy="202814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DC8B9C-D1BC-0D12-C676-C50993628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01759" y="668946"/>
              <a:ext cx="2898096" cy="178934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512E97D-C18C-4CFE-F997-97614B8B5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95595" y="4409196"/>
              <a:ext cx="2747765" cy="218221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20801B-4A41-6F8B-6F59-F8E41B2C8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43360" y="4409194"/>
              <a:ext cx="2658397" cy="21917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605726F-0251-1B8A-4C62-DBBCE0965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001758" y="4409195"/>
              <a:ext cx="2898096" cy="21822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086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D960-F53A-4135-E417-D71C57F3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8" y="170121"/>
            <a:ext cx="10411691" cy="87457"/>
          </a:xfrm>
        </p:spPr>
        <p:txBody>
          <a:bodyPr>
            <a:noAutofit/>
          </a:bodyPr>
          <a:lstStyle/>
          <a:p>
            <a:r>
              <a:rPr lang="en-IN" sz="4000" b="1" dirty="0"/>
              <a:t>EDA (Bivariate)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02437E-50F0-2A11-0E29-DF9F94B89F87}"/>
              </a:ext>
            </a:extLst>
          </p:cNvPr>
          <p:cNvGrpSpPr/>
          <p:nvPr/>
        </p:nvGrpSpPr>
        <p:grpSpPr>
          <a:xfrm>
            <a:off x="661932" y="1041392"/>
            <a:ext cx="11320962" cy="5646487"/>
            <a:chOff x="353587" y="669253"/>
            <a:chExt cx="11750407" cy="60178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E1CC26-24F5-1989-F518-9B3FA68C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587" y="669254"/>
              <a:ext cx="5742413" cy="255856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7ADF16-984C-1C8F-080C-3C7C6C207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3587" y="3227821"/>
              <a:ext cx="5742413" cy="345930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6C5C06-D88D-71A8-2E30-1D23F785D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669253"/>
              <a:ext cx="6007994" cy="255856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A3E6F62-8D86-EB00-C4CF-F83E053E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44045" y="3227821"/>
              <a:ext cx="6059949" cy="34567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274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64AA-7A86-E08D-E837-CCA4CEBCA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317" y="99510"/>
            <a:ext cx="9968345" cy="105930"/>
          </a:xfrm>
        </p:spPr>
        <p:txBody>
          <a:bodyPr>
            <a:noAutofit/>
          </a:bodyPr>
          <a:lstStyle/>
          <a:p>
            <a:r>
              <a:rPr lang="en-IN" sz="4400" b="1" dirty="0"/>
              <a:t>Completion Rate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EF50A9-E37F-899C-6780-8D241B06B03D}"/>
              </a:ext>
            </a:extLst>
          </p:cNvPr>
          <p:cNvGrpSpPr/>
          <p:nvPr/>
        </p:nvGrpSpPr>
        <p:grpSpPr>
          <a:xfrm>
            <a:off x="378260" y="1019215"/>
            <a:ext cx="11636531" cy="5686310"/>
            <a:chOff x="346362" y="806564"/>
            <a:chExt cx="11731469" cy="58339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0BD134-54A3-22E4-99A6-D2AF3CBB8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45792" y="806564"/>
              <a:ext cx="4632039" cy="271058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0C45CB-EAC4-A8D5-F70B-F643C4F2C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362" y="814849"/>
              <a:ext cx="3269673" cy="284179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A10093-6EF0-5EEC-7D98-0D2E3F3CB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16035" y="806564"/>
              <a:ext cx="3829757" cy="271058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1224CC-3D2E-48C4-D01C-2A6E805F6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2433" y="3517148"/>
              <a:ext cx="3819241" cy="31233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091B98-8B4B-1B8D-8E6C-CDBA1911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6362" y="3656647"/>
              <a:ext cx="3703780" cy="29838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5A4EB1-B4B6-3955-7593-6C916D9BE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41674" y="3517147"/>
              <a:ext cx="4236157" cy="31233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076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3ED0-BDC8-5957-7CCF-A7E5E8D3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472" y="206504"/>
            <a:ext cx="9866745" cy="105929"/>
          </a:xfrm>
        </p:spPr>
        <p:txBody>
          <a:bodyPr>
            <a:noAutofit/>
          </a:bodyPr>
          <a:lstStyle/>
          <a:p>
            <a:r>
              <a:rPr lang="en-IN" sz="4000" b="1" dirty="0"/>
              <a:t>Trend Analysis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94035-00A4-ED97-EBA7-D3515B6198F8}"/>
              </a:ext>
            </a:extLst>
          </p:cNvPr>
          <p:cNvGrpSpPr/>
          <p:nvPr/>
        </p:nvGrpSpPr>
        <p:grpSpPr>
          <a:xfrm>
            <a:off x="380187" y="1084585"/>
            <a:ext cx="11610868" cy="5656456"/>
            <a:chOff x="433349" y="914465"/>
            <a:chExt cx="11610868" cy="51248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F23704-CE67-B1D9-CD01-C452A75D5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349" y="943256"/>
              <a:ext cx="3547523" cy="248574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ED76D0-D45C-5CE9-74C2-ABFD97411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0872" y="943256"/>
              <a:ext cx="3879273" cy="228097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DC6E6D-4FCE-3324-6E0E-1B98C2E41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3350" y="3423119"/>
              <a:ext cx="3547522" cy="26161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527041-2202-4DFD-7890-3A870B642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16218" y="3399789"/>
              <a:ext cx="3879273" cy="26161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07D96F-16E5-9C74-97FC-42074599F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9310" y="3310567"/>
              <a:ext cx="4294907" cy="270539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9070C7-4CE6-EA25-21AB-BF60CC4B1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60145" y="914465"/>
              <a:ext cx="4184072" cy="2396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531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BD6F-91E1-B035-DEE1-C16B580D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810" y="162747"/>
            <a:ext cx="10707255" cy="142875"/>
          </a:xfrm>
        </p:spPr>
        <p:txBody>
          <a:bodyPr>
            <a:noAutofit/>
          </a:bodyPr>
          <a:lstStyle/>
          <a:p>
            <a:r>
              <a:rPr lang="en-IN" sz="4000" b="1" dirty="0"/>
              <a:t>Trend</a:t>
            </a:r>
            <a:r>
              <a:rPr lang="en-IN" sz="4000" dirty="0"/>
              <a:t> </a:t>
            </a:r>
            <a:r>
              <a:rPr lang="en-IN" sz="4000" b="1" dirty="0"/>
              <a:t>Analysis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0ED28F-6EB4-9B97-79CE-7A28C274E40C}"/>
              </a:ext>
            </a:extLst>
          </p:cNvPr>
          <p:cNvGrpSpPr/>
          <p:nvPr/>
        </p:nvGrpSpPr>
        <p:grpSpPr>
          <a:xfrm>
            <a:off x="310061" y="968510"/>
            <a:ext cx="11571877" cy="5671858"/>
            <a:chOff x="145202" y="825635"/>
            <a:chExt cx="11787783" cy="57486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21D7AA9-C06A-2799-50FB-47D22F73B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202" y="842412"/>
              <a:ext cx="6043162" cy="28691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8110A7-4DA2-AF63-B95D-52DF56CAD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3637" y="825635"/>
              <a:ext cx="5929348" cy="290265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0C0504-31BB-4B5B-6719-54C3415A9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202" y="3688408"/>
              <a:ext cx="6043162" cy="28858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59DAEA-5CE1-82A0-246B-22C8769F3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8363" y="3728288"/>
              <a:ext cx="5744622" cy="2829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860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143B-2AAC-F860-E28C-F14A6A01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055" y="472846"/>
            <a:ext cx="10069945" cy="475384"/>
          </a:xfrm>
        </p:spPr>
        <p:txBody>
          <a:bodyPr>
            <a:noAutofit/>
          </a:bodyPr>
          <a:lstStyle/>
          <a:p>
            <a:r>
              <a:rPr lang="en-IN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Churn Analysis and Predictive </a:t>
            </a:r>
            <a:r>
              <a:rPr lang="en-IN" sz="4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Modeling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FCC5C-F58D-6BAF-1018-5C59AAC21B20}"/>
              </a:ext>
            </a:extLst>
          </p:cNvPr>
          <p:cNvSpPr txBox="1"/>
          <p:nvPr/>
        </p:nvSpPr>
        <p:spPr>
          <a:xfrm>
            <a:off x="838200" y="1385455"/>
            <a:ext cx="102431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Methadology</a:t>
            </a: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u="sng" dirty="0"/>
              <a:t>Data Cleaning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Handling Missing Values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Converting Data Types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u="sng" dirty="0"/>
              <a:t>Feature Engineering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Churn Label Creation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Encoding Categorical Variables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Derived Features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u="sng" dirty="0"/>
              <a:t>Model Building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Logistic Regression, Decision Tree, Random Forest, Gradient Boosting, SVM, KNN, </a:t>
            </a:r>
            <a:r>
              <a:rPr lang="en-IN" dirty="0" err="1"/>
              <a:t>XGBoost</a:t>
            </a:r>
            <a:r>
              <a:rPr lang="en-IN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u="sng" dirty="0"/>
              <a:t>Model Evaluation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Accuracy, Precision, Recall, F1-Score, AUC Curve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u="sng" dirty="0"/>
              <a:t>Feature Importance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dirty="0"/>
              <a:t>Application Processing Time, Program Duration, Days to </a:t>
            </a:r>
            <a:r>
              <a:rPr lang="en-IN" dirty="0" err="1"/>
              <a:t>start,etc</a:t>
            </a:r>
            <a:r>
              <a:rPr lang="en-IN" dirty="0"/>
              <a:t>….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2418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1550-93E8-235A-7482-C3E39128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534" y="120793"/>
            <a:ext cx="10515600" cy="724766"/>
          </a:xfrm>
        </p:spPr>
        <p:txBody>
          <a:bodyPr>
            <a:normAutofit/>
          </a:bodyPr>
          <a:lstStyle/>
          <a:p>
            <a:r>
              <a:rPr lang="en-IN" sz="4000" b="1" dirty="0"/>
              <a:t>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73B215-4A04-A36A-4C07-CEAF87D76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698593"/>
              </p:ext>
            </p:extLst>
          </p:nvPr>
        </p:nvGraphicFramePr>
        <p:xfrm>
          <a:off x="475887" y="941036"/>
          <a:ext cx="11421944" cy="5700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1">
                  <a:extLst>
                    <a:ext uri="{9D8B030D-6E8A-4147-A177-3AD203B41FA5}">
                      <a16:colId xmlns:a16="http://schemas.microsoft.com/office/drawing/2014/main" val="705791285"/>
                    </a:ext>
                  </a:extLst>
                </a:gridCol>
                <a:gridCol w="1307804">
                  <a:extLst>
                    <a:ext uri="{9D8B030D-6E8A-4147-A177-3AD203B41FA5}">
                      <a16:colId xmlns:a16="http://schemas.microsoft.com/office/drawing/2014/main" val="1836387347"/>
                    </a:ext>
                  </a:extLst>
                </a:gridCol>
                <a:gridCol w="1658679">
                  <a:extLst>
                    <a:ext uri="{9D8B030D-6E8A-4147-A177-3AD203B41FA5}">
                      <a16:colId xmlns:a16="http://schemas.microsoft.com/office/drawing/2014/main" val="783211252"/>
                    </a:ext>
                  </a:extLst>
                </a:gridCol>
                <a:gridCol w="1359678">
                  <a:extLst>
                    <a:ext uri="{9D8B030D-6E8A-4147-A177-3AD203B41FA5}">
                      <a16:colId xmlns:a16="http://schemas.microsoft.com/office/drawing/2014/main" val="3989033266"/>
                    </a:ext>
                  </a:extLst>
                </a:gridCol>
                <a:gridCol w="1427743">
                  <a:extLst>
                    <a:ext uri="{9D8B030D-6E8A-4147-A177-3AD203B41FA5}">
                      <a16:colId xmlns:a16="http://schemas.microsoft.com/office/drawing/2014/main" val="1659560619"/>
                    </a:ext>
                  </a:extLst>
                </a:gridCol>
                <a:gridCol w="1427743">
                  <a:extLst>
                    <a:ext uri="{9D8B030D-6E8A-4147-A177-3AD203B41FA5}">
                      <a16:colId xmlns:a16="http://schemas.microsoft.com/office/drawing/2014/main" val="3879020498"/>
                    </a:ext>
                  </a:extLst>
                </a:gridCol>
                <a:gridCol w="1427743">
                  <a:extLst>
                    <a:ext uri="{9D8B030D-6E8A-4147-A177-3AD203B41FA5}">
                      <a16:colId xmlns:a16="http://schemas.microsoft.com/office/drawing/2014/main" val="201138987"/>
                    </a:ext>
                  </a:extLst>
                </a:gridCol>
                <a:gridCol w="1427743">
                  <a:extLst>
                    <a:ext uri="{9D8B030D-6E8A-4147-A177-3AD203B41FA5}">
                      <a16:colId xmlns:a16="http://schemas.microsoft.com/office/drawing/2014/main" val="2156244425"/>
                    </a:ext>
                  </a:extLst>
                </a:gridCol>
              </a:tblGrid>
              <a:tr h="597912">
                <a:tc>
                  <a:txBody>
                    <a:bodyPr/>
                    <a:lstStyle/>
                    <a:p>
                      <a:r>
                        <a:rPr lang="en-IN" dirty="0" err="1"/>
                        <a:t>Metics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KNN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97011"/>
                  </a:ext>
                </a:extLst>
              </a:tr>
              <a:tr h="439070"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92.01%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89.16%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85.59%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890174"/>
                  </a:ext>
                </a:extLst>
              </a:tr>
              <a:tr h="437271">
                <a:tc>
                  <a:txBody>
                    <a:bodyPr/>
                    <a:lstStyle/>
                    <a:p>
                      <a:r>
                        <a:rPr lang="en-IN" dirty="0"/>
                        <a:t>AUC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41606"/>
                  </a:ext>
                </a:extLst>
              </a:tr>
              <a:tr h="575957">
                <a:tc>
                  <a:txBody>
                    <a:bodyPr/>
                    <a:lstStyle/>
                    <a:p>
                      <a:r>
                        <a:rPr lang="en-IN" dirty="0"/>
                        <a:t>Precision </a:t>
                      </a:r>
                      <a:r>
                        <a:rPr lang="en-IN" sz="1400" dirty="0"/>
                        <a:t>(class1)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5800"/>
                  </a:ext>
                </a:extLst>
              </a:tr>
              <a:tr h="575957">
                <a:tc>
                  <a:txBody>
                    <a:bodyPr/>
                    <a:lstStyle/>
                    <a:p>
                      <a:r>
                        <a:rPr lang="en-IN" dirty="0"/>
                        <a:t>Recall </a:t>
                      </a:r>
                      <a:r>
                        <a:rPr lang="en-IN" sz="1400" dirty="0"/>
                        <a:t>(class1)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157722"/>
                  </a:ext>
                </a:extLst>
              </a:tr>
              <a:tr h="329118">
                <a:tc>
                  <a:txBody>
                    <a:bodyPr/>
                    <a:lstStyle/>
                    <a:p>
                      <a:r>
                        <a:rPr lang="en-IN" dirty="0"/>
                        <a:t>F1-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501180"/>
                  </a:ext>
                </a:extLst>
              </a:tr>
              <a:tr h="2386106"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Poor Performance in identifying dropouts. Not Suitable.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Reasonable accuracy and ability to identify some </a:t>
                      </a:r>
                      <a:r>
                        <a:rPr lang="en-IN" sz="1400" dirty="0" err="1"/>
                        <a:t>droupouts</a:t>
                      </a:r>
                      <a:r>
                        <a:rPr lang="en-IN" sz="1400" dirty="0"/>
                        <a:t>, but recall is low. Can be selected with caution, further tuning may improve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accuracy and good precision, but recall is still low. Can be selected.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Similar to Random Forest. Can be selected.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accuracy and recall. Not </a:t>
                      </a:r>
                      <a:r>
                        <a:rPr lang="en-IN" dirty="0" err="1"/>
                        <a:t>suaitable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Poor performance. Not Suitable.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accuracy and precision, but recall is still low. Can be selected.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481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1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80DA-333D-42CE-A2A5-57F7AEA9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685" y="343860"/>
            <a:ext cx="10513291" cy="780184"/>
          </a:xfrm>
        </p:spPr>
        <p:txBody>
          <a:bodyPr>
            <a:normAutofit/>
          </a:bodyPr>
          <a:lstStyle/>
          <a:p>
            <a:r>
              <a:rPr lang="en-IN" sz="4000" b="1" dirty="0"/>
              <a:t>Recommendation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137-61DB-EF92-F843-717AC1A3EB9F}"/>
              </a:ext>
            </a:extLst>
          </p:cNvPr>
          <p:cNvSpPr txBox="1"/>
          <p:nvPr/>
        </p:nvSpPr>
        <p:spPr>
          <a:xfrm>
            <a:off x="849745" y="1459345"/>
            <a:ext cx="8682182" cy="3052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we did create 3 recommendation systems: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dirty="0"/>
              <a:t>Course recommendation System including Engagement Recommendations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dirty="0"/>
              <a:t>Risk assessment and Recommendation System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Recommendation Systems for individual candidates, dropout probability, risk factor, dropout-factor and recommendation for that factor.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21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2CD8-0B51-16B7-3405-F55E2780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088" y="367099"/>
            <a:ext cx="10485192" cy="918730"/>
          </a:xfrm>
        </p:spPr>
        <p:txBody>
          <a:bodyPr/>
          <a:lstStyle/>
          <a:p>
            <a:r>
              <a:rPr lang="en-IN" b="1" dirty="0"/>
              <a:t>1. Course Recommendation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AC82B-0ADA-7D65-FA6A-1CE2DFD82819}"/>
              </a:ext>
            </a:extLst>
          </p:cNvPr>
          <p:cNvSpPr txBox="1"/>
          <p:nvPr/>
        </p:nvSpPr>
        <p:spPr>
          <a:xfrm>
            <a:off x="960582" y="1764145"/>
            <a:ext cx="105156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I pass Full Name, Age, Gender, Current/Intended Major, Current student status, status description, then it automatically calculates the similarity score from the trained data and recommend courses and also Engagement recommendations</a:t>
            </a:r>
          </a:p>
          <a:p>
            <a:endParaRPr lang="en-IN" dirty="0"/>
          </a:p>
          <a:p>
            <a:r>
              <a:rPr lang="en-IN" dirty="0"/>
              <a:t>I did pass some random test case and I got this as output: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Preparing data for recommendation system...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Data preparation completed.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jp-code-font-family)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Recommendations for Emmanuel Thompson: </a:t>
            </a: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Recommended Courses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- CPR/AED Certification</a:t>
            </a:r>
          </a:p>
          <a:p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Engagement Recommendations: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Consider following up on your application status regularly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This is a longer program - consider creating a study schedule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Participate in online discussion forums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Set up regular check-ins with mentors - Join study groups or form one Preparing data for recommendation system...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Data preparation completed. All test cases passed successfully!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C5589A7-21B0-78AD-CA32-072F2FDDF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64367E0-55F0-43AE-719A-C675BF073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6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1E0A-3D7C-1E70-EAAC-3C64E44E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882" y="228599"/>
            <a:ext cx="10514755" cy="992957"/>
          </a:xfrm>
        </p:spPr>
        <p:txBody>
          <a:bodyPr/>
          <a:lstStyle/>
          <a:p>
            <a:r>
              <a:rPr lang="en-IN" b="1" dirty="0"/>
              <a:t>2. Risk assessment Recommendation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52635-BB62-6F34-88A5-83AF4DC43AD1}"/>
              </a:ext>
            </a:extLst>
          </p:cNvPr>
          <p:cNvSpPr txBox="1"/>
          <p:nvPr/>
        </p:nvSpPr>
        <p:spPr>
          <a:xfrm>
            <a:off x="1382233" y="1225689"/>
            <a:ext cx="100376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I pass Full Name, Age, Gender, Current/Intended Major, Current student status, status description, then it automatically calculates the similarity score from the trained data and gives personalized opportunities, Risk level, Risk assessment and recommendations.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Testing Recommendation System...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Recommendations for student: Faria Khan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Personalized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Opportunity Name 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Jump Start: Developing your Emotional Intelligence 0.475757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CPR/AED Certification 0.410727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AI Ethics Challenge 0.299546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Innovation &amp; Entrepreneurship 0.299546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Health Care Management 0.299546 </a:t>
            </a:r>
          </a:p>
          <a:p>
            <a:endParaRPr lang="en-US" altLang="en-US" dirty="0">
              <a:latin typeface="var(--jp-code-font-family)"/>
            </a:endParaRP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Risk Assessment and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Risk 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Low </a:t>
            </a: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Risk Suggested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Continue current engagement level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Consider mentoring other students </a:t>
            </a:r>
          </a:p>
          <a:p>
            <a:pPr marL="285750" indent="-285750">
              <a:buFontTx/>
              <a:buChar char="-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Explore advanced opportunities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-    Share success strategies with peers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A6F050-FEE6-A23D-370B-6D013AD88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F248944-2E67-F35A-38A0-2057407A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952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259D-6BF6-2248-FF2B-4E774546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490" y="228599"/>
            <a:ext cx="10605655" cy="964911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Recommendation Systems for individual candidates, dropout probability, risk factor, dropout-factor and recommendation for that factor.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4944E-D995-5F3B-E06B-F8272D62BFDC}"/>
              </a:ext>
            </a:extLst>
          </p:cNvPr>
          <p:cNvSpPr txBox="1"/>
          <p:nvPr/>
        </p:nvSpPr>
        <p:spPr>
          <a:xfrm>
            <a:off x="1167810" y="1397199"/>
            <a:ext cx="1078114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Preparing data for dropout risk assessment...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Data preparation completed.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Training dropout prediction model...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Top 5 Risk Factors: feature  importance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application_processing_time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0.271550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program_duration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0.183885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days_to_start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0.121904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days_to_end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0.113052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Opportunity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Category_encoded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0.089253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Recommendations for Rachel Grant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var(--jp-code-font-family)"/>
              </a:rPr>
              <a:t>S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tudent_name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Rachel Grant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var(--jp-code-font-family)"/>
              </a:rPr>
              <a:t>R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isk_profile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{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dropout_probability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0.6777507472686044, '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risk_level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'High’}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var(--jp-code-font-family)"/>
              </a:rPr>
              <a:t>R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isk_factors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{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'factor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'Long application processing time',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'recommendation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'Follow up on your application status and ensure all required documents are submitted’}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{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'factor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'Long program duration',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'recommendation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'Create a detailed study schedule and set regular milestones’},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{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'factor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'Late program start',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'recommendation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'Contact program coordinator for catch-up materials and extra support'}, {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'factor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'Technical program complexity',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'recommendation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': 'Join study groups and utilize online learning resources’}.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var(--jp-code-font-family)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var(--jp-code-font-family)"/>
              </a:rPr>
              <a:t>R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ecommended_Interventions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Schedule immediate academic counseling session, Assign a peer mentor, Provide access to additional learning resources, Set up weekly progress monitoring.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39140B-2FF7-322F-D897-923F759C3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9BC230-FB45-257F-B998-DDF485D91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6B98E5-4720-CF87-1983-27AE8A752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6960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946</TotalTime>
  <Words>800</Words>
  <Application>Microsoft Office PowerPoint</Application>
  <PresentationFormat>Widescreen</PresentationFormat>
  <Paragraphs>155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 Gothic</vt:lpstr>
      <vt:lpstr>Courier New</vt:lpstr>
      <vt:lpstr>var(--jp-code-font-family)</vt:lpstr>
      <vt:lpstr>Wingdings</vt:lpstr>
      <vt:lpstr>Wingdings 3</vt:lpstr>
      <vt:lpstr>Wisp</vt:lpstr>
      <vt:lpstr>RIT 1410 AI Team 4A Final Dashboard Presentation</vt:lpstr>
      <vt:lpstr>Presentation Content</vt:lpstr>
      <vt:lpstr>Preprocessing</vt:lpstr>
      <vt:lpstr>EDA (UNIVARIATE)</vt:lpstr>
      <vt:lpstr>EDA (Bivariate)</vt:lpstr>
      <vt:lpstr>Completion Rate</vt:lpstr>
      <vt:lpstr>Trend Analysis</vt:lpstr>
      <vt:lpstr>Trend Analysis</vt:lpstr>
      <vt:lpstr>Churn Analysis and Predictive Modeling</vt:lpstr>
      <vt:lpstr>Model Performance</vt:lpstr>
      <vt:lpstr>Recommendation Systems</vt:lpstr>
      <vt:lpstr>1. Course Recommendation System</vt:lpstr>
      <vt:lpstr>2. Risk assessment Recommendation System</vt:lpstr>
      <vt:lpstr>Recommendation Systems for individual candidates, dropout probability, risk factor, dropout-factor and recommendation for that factor.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ALLAM</dc:creator>
  <cp:lastModifiedBy>SRIDHAR ALLAM</cp:lastModifiedBy>
  <cp:revision>5</cp:revision>
  <dcterms:created xsi:type="dcterms:W3CDTF">2024-11-10T12:05:31Z</dcterms:created>
  <dcterms:modified xsi:type="dcterms:W3CDTF">2024-11-11T11:47:54Z</dcterms:modified>
</cp:coreProperties>
</file>